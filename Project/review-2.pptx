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1" r:id="rId16"/>
    <p:sldId id="270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6B7F2-4B86-4B49-9E76-352086ECB83E}" v="1" dt="2026-10-05T02:53:07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uru Amulya" userId="7fc8dc66ed1a6efa" providerId="LiveId" clId="{CDB2F818-CA97-4B0E-911C-34A24FB06C3E}"/>
    <pc:docChg chg="undo custSel modSld">
      <pc:chgData name="Alluru Amulya" userId="7fc8dc66ed1a6efa" providerId="LiveId" clId="{CDB2F818-CA97-4B0E-911C-34A24FB06C3E}" dt="2026-10-05T03:07:25.841" v="36" actId="20577"/>
      <pc:docMkLst>
        <pc:docMk/>
      </pc:docMkLst>
      <pc:sldChg chg="modSp mod">
        <pc:chgData name="Alluru Amulya" userId="7fc8dc66ed1a6efa" providerId="LiveId" clId="{CDB2F818-CA97-4B0E-911C-34A24FB06C3E}" dt="2026-10-05T03:07:25.841" v="36" actId="20577"/>
        <pc:sldMkLst>
          <pc:docMk/>
          <pc:sldMk cId="1368245696" sldId="259"/>
        </pc:sldMkLst>
        <pc:spChg chg="mod">
          <ac:chgData name="Alluru Amulya" userId="7fc8dc66ed1a6efa" providerId="LiveId" clId="{CDB2F818-CA97-4B0E-911C-34A24FB06C3E}" dt="2026-10-05T03:07:25.841" v="36" actId="20577"/>
          <ac:spMkLst>
            <pc:docMk/>
            <pc:sldMk cId="1368245696" sldId="259"/>
            <ac:spMk id="3" creationId="{113D2003-0546-5D5E-52F2-CB250CADC08F}"/>
          </ac:spMkLst>
        </pc:spChg>
      </pc:sldChg>
      <pc:sldChg chg="modSp mod">
        <pc:chgData name="Alluru Amulya" userId="7fc8dc66ed1a6efa" providerId="LiveId" clId="{CDB2F818-CA97-4B0E-911C-34A24FB06C3E}" dt="2026-10-05T02:53:08.798" v="5" actId="27636"/>
        <pc:sldMkLst>
          <pc:docMk/>
          <pc:sldMk cId="710886572" sldId="272"/>
        </pc:sldMkLst>
        <pc:spChg chg="mod">
          <ac:chgData name="Alluru Amulya" userId="7fc8dc66ed1a6efa" providerId="LiveId" clId="{CDB2F818-CA97-4B0E-911C-34A24FB06C3E}" dt="2026-10-05T02:53:08.798" v="5" actId="27636"/>
          <ac:spMkLst>
            <pc:docMk/>
            <pc:sldMk cId="710886572" sldId="272"/>
            <ac:spMk id="3" creationId="{A07952E7-DCC9-A167-7304-E033A654F30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0E19-722C-4BBC-AB87-F394525537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AEA24-C2A4-40EB-83E8-769216DBA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11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0E19-722C-4BBC-AB87-F394525537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BEAEA24-C2A4-40EB-83E8-769216DBA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44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0E19-722C-4BBC-AB87-F394525537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AEA24-C2A4-40EB-83E8-769216DBA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691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0E19-722C-4BBC-AB87-F394525537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AEA24-C2A4-40EB-83E8-769216DBA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70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0E19-722C-4BBC-AB87-F394525537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AEA24-C2A4-40EB-83E8-769216DBA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784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0E19-722C-4BBC-AB87-F394525537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AEA24-C2A4-40EB-83E8-769216DBA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945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0E19-722C-4BBC-AB87-F394525537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AEA24-C2A4-40EB-83E8-769216DBA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263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0E19-722C-4BBC-AB87-F394525537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AEA24-C2A4-40EB-83E8-769216DBA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517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0E19-722C-4BBC-AB87-F394525537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AEA24-C2A4-40EB-83E8-769216DBA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58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0E19-722C-4BBC-AB87-F394525537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AEA24-C2A4-40EB-83E8-769216DBA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41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0E19-722C-4BBC-AB87-F394525537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AEA24-C2A4-40EB-83E8-769216DBA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739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0E19-722C-4BBC-AB87-F394525537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AEA24-C2A4-40EB-83E8-769216DBA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162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0E19-722C-4BBC-AB87-F394525537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AEA24-C2A4-40EB-83E8-769216DBA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025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0E19-722C-4BBC-AB87-F394525537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AEA24-C2A4-40EB-83E8-769216DBA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2685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0E19-722C-4BBC-AB87-F394525537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AEA24-C2A4-40EB-83E8-769216DBA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660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0E19-722C-4BBC-AB87-F394525537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AEA24-C2A4-40EB-83E8-769216DBA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1311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0E19-722C-4BBC-AB87-F394525537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AEA24-C2A4-40EB-83E8-769216DBA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904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2D50E19-722C-4BBC-AB87-F394525537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BEAEA24-C2A4-40EB-83E8-769216DBA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443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FA779-432C-7861-C8DA-BE8341A83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474" y="914400"/>
            <a:ext cx="10149526" cy="259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Prediction Using Elastic Net Regularized Logistic Regression</a:t>
            </a:r>
            <a:br>
              <a:rPr lang="en-US" dirty="0"/>
            </a:br>
            <a:r>
              <a:rPr lang="en-US" b="1" dirty="0"/>
              <a:t> </a:t>
            </a:r>
            <a:br>
              <a:rPr lang="en-US" dirty="0"/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952E7-DCC9-A167-7304-E033A654F3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Section9</a:t>
            </a:r>
          </a:p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2520030003-Kunamaneni Bhavana                                                   2520030189-Alluru Amulya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886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8A9DB-8A61-A452-27C8-DD04C5D04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864" y="245593"/>
            <a:ext cx="9023555" cy="539443"/>
          </a:xfrm>
        </p:spPr>
        <p:txBody>
          <a:bodyPr>
            <a:noAutofit/>
          </a:bodyPr>
          <a:lstStyle/>
          <a:p>
            <a:r>
              <a:rPr lang="en-IN" sz="3500" dirty="0"/>
              <a:t>1. 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E5141-AA05-8229-62A9-A4FF11998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7815" y="1111045"/>
            <a:ext cx="9996263" cy="5299182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Prediction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occurs when a customer stops using or subscribing to a company's service.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customer churn can lead to revenue loss and increased customer acquisition costs.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for organizations to identify customers who are likely to leave in advance.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customer data and identify customers who have a higher probability of churning.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Customer Churn Prediction system using Elastic Net Regularized Logistic Regression. </a:t>
            </a: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this problem important?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organizations identify high-risk customers.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customer retention strategies.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potential revenue loss.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businesses understand factors associated with churn.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data-driven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566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84BD9-411A-45BF-0945-EA0276728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6452" y="358522"/>
            <a:ext cx="11906863" cy="6622026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will use the solution?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Telecommunications companies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relationship management teams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and sales teams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analysts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retention teams</a:t>
            </a: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will: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Customer information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Probability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/ No Churn prediction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high-risk customers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34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1230-AE70-68D0-939A-6A656DF6C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878" y="414288"/>
            <a:ext cx="8649929" cy="450952"/>
          </a:xfrm>
        </p:spPr>
        <p:txBody>
          <a:bodyPr>
            <a:noAutofit/>
          </a:bodyPr>
          <a:lstStyle/>
          <a:p>
            <a:r>
              <a:rPr lang="en-IN" sz="3200" dirty="0"/>
              <a:t>2. Dataset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D2003-0546-5D5E-52F2-CB250CADC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335" y="1002890"/>
            <a:ext cx="11808542" cy="5855110"/>
          </a:xfrm>
        </p:spPr>
        <p:txBody>
          <a:bodyPr/>
          <a:lstStyle/>
          <a:p>
            <a:pPr marL="0" indent="0" algn="just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Name: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IBM Telco Customer Churn Dataset</a:t>
            </a:r>
          </a:p>
          <a:p>
            <a:pPr algn="just"/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DatasetFIle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WA_Fn-UseC_-Telco-Customer-Churn.csv</a:t>
            </a:r>
          </a:p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IBM sample/customer churn dataset, commonly distributed through Kaggle and other public dataset repositories.</a:t>
            </a:r>
          </a:p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Records: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7,043</a:t>
            </a:r>
          </a:p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Columns: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21</a:t>
            </a:r>
          </a:p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Churn</a:t>
            </a:r>
          </a:p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Values: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 → Customer churned </a:t>
            </a:r>
          </a:p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→ Customer did not churn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8245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E9583-830A-7F92-E708-BCBC2655B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3" y="206477"/>
            <a:ext cx="11916695" cy="6548284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6E71E2-E51C-72FD-2DF7-31EE06CC2E0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89614"/>
          <a:ext cx="10515600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39211730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953518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332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customerID, gender, SeniorCitizen, Partner, Dependents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145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Service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PhoneService, MultipleLines, InternetService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0834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Additional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OnlineSecurity, OnlineBackup, DeviceProtection, TechSupport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280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Streaming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StreamingTV, StreamingMovies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5395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Contract &amp; 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Contract, PaperlessBilling, PaymentMethod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0621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Financial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MonthlyCharges, TotalCharges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2867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65241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249785-ED99-B501-8C7C-AFDAA8AAB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702588"/>
              </p:ext>
            </p:extLst>
          </p:nvPr>
        </p:nvGraphicFramePr>
        <p:xfrm>
          <a:off x="838200" y="1989614"/>
          <a:ext cx="10515600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091776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04226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2975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customerID, gender, SeniorCitizen, Partner, Dependents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337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Service 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PhoneService, MultipleLines, InternetService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954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Additional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OnlineSecurity, OnlineBackup, DeviceProtection, TechSupport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4620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Streaming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StreamingTV, StreamingMovies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580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Contract &amp; 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Contract, PaperlessBilling, PaymentMethod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8416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MonthlyCharges, TotalCharges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1439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75969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AB20D9-9EA9-167E-FEC7-771008381188}"/>
              </a:ext>
            </a:extLst>
          </p:cNvPr>
          <p:cNvSpPr txBox="1"/>
          <p:nvPr/>
        </p:nvSpPr>
        <p:spPr>
          <a:xfrm>
            <a:off x="2846109" y="108369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Dataset Features:</a:t>
            </a:r>
          </a:p>
        </p:txBody>
      </p:sp>
    </p:spTree>
    <p:extLst>
      <p:ext uri="{BB962C8B-B14F-4D97-AF65-F5344CB8AC3E}">
        <p14:creationId xmlns:p14="http://schemas.microsoft.com/office/powerpoint/2010/main" val="1593125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F54E5-F6A4-EAA5-D158-D1DDD4F6B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021" y="434051"/>
            <a:ext cx="9839632" cy="647598"/>
          </a:xfrm>
        </p:spPr>
        <p:txBody>
          <a:bodyPr>
            <a:normAutofit/>
          </a:bodyPr>
          <a:lstStyle/>
          <a:p>
            <a:r>
              <a:rPr lang="en-IN" sz="3200" dirty="0"/>
              <a:t>3. 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A7AA4-AE01-C091-68F7-30BBF493F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9477" y="1565787"/>
            <a:ext cx="11513574" cy="3726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Dataset Analysis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uploaded dataset: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7,043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 input features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(Churn)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columns: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21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direct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detected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4657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FE36472-8E49-FC05-A2BA-DC48E4B1CD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0086323"/>
              </p:ext>
            </p:extLst>
          </p:nvPr>
        </p:nvGraphicFramePr>
        <p:xfrm>
          <a:off x="2231441" y="792833"/>
          <a:ext cx="903359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6795">
                  <a:extLst>
                    <a:ext uri="{9D8B030D-6E8A-4147-A177-3AD203B41FA5}">
                      <a16:colId xmlns:a16="http://schemas.microsoft.com/office/drawing/2014/main" val="3454345640"/>
                    </a:ext>
                  </a:extLst>
                </a:gridCol>
                <a:gridCol w="4516795">
                  <a:extLst>
                    <a:ext uri="{9D8B030D-6E8A-4147-A177-3AD203B41FA5}">
                      <a16:colId xmlns:a16="http://schemas.microsoft.com/office/drawing/2014/main" val="1549427609"/>
                    </a:ext>
                  </a:extLst>
                </a:gridCol>
              </a:tblGrid>
              <a:tr h="295925">
                <a:tc>
                  <a:txBody>
                    <a:bodyPr/>
                    <a:lstStyle/>
                    <a:p>
                      <a:r>
                        <a:rPr lang="en-IN" dirty="0"/>
                        <a:t>Numerical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Categorical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255996"/>
                  </a:ext>
                </a:extLst>
              </a:tr>
              <a:tr h="3794327">
                <a:tc>
                  <a:txBody>
                    <a:bodyPr/>
                    <a:lstStyle/>
                    <a:p>
                      <a:pPr lvl="0"/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SeniorCitizen</a:t>
                      </a:r>
                      <a:r>
                        <a:rPr lang="en-IN" dirty="0"/>
                        <a:t> </a:t>
                      </a:r>
                    </a:p>
                    <a:p>
                      <a:pPr lvl="0"/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tenure</a:t>
                      </a:r>
                      <a:r>
                        <a:rPr lang="en-IN" dirty="0"/>
                        <a:t> </a:t>
                      </a:r>
                    </a:p>
                    <a:p>
                      <a:pPr lvl="0"/>
                      <a:r>
                        <a:rPr lang="en-IN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MonthlyCharges</a:t>
                      </a:r>
                      <a:r>
                        <a:rPr lang="en-IN" dirty="0"/>
                        <a:t>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  <a:r>
                        <a:rPr lang="en-IN" dirty="0"/>
                        <a:t> </a:t>
                      </a:r>
                    </a:p>
                    <a:p>
                      <a:pPr lvl="0"/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Partner</a:t>
                      </a:r>
                      <a:r>
                        <a:rPr lang="en-IN" dirty="0"/>
                        <a:t> </a:t>
                      </a:r>
                    </a:p>
                    <a:p>
                      <a:pPr lvl="0"/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Dependents</a:t>
                      </a:r>
                      <a:r>
                        <a:rPr lang="en-IN" dirty="0"/>
                        <a:t> </a:t>
                      </a:r>
                    </a:p>
                    <a:p>
                      <a:pPr lvl="0"/>
                      <a:r>
                        <a:rPr lang="en-IN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PhoneService</a:t>
                      </a:r>
                      <a:r>
                        <a:rPr lang="en-IN" dirty="0"/>
                        <a:t> </a:t>
                      </a:r>
                    </a:p>
                    <a:p>
                      <a:pPr lvl="0"/>
                      <a:r>
                        <a:rPr lang="en-IN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MultipleLines</a:t>
                      </a:r>
                      <a:r>
                        <a:rPr lang="en-IN" dirty="0"/>
                        <a:t> </a:t>
                      </a:r>
                    </a:p>
                    <a:p>
                      <a:pPr lvl="0"/>
                      <a:r>
                        <a:rPr lang="en-IN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InternetService</a:t>
                      </a:r>
                      <a:r>
                        <a:rPr lang="en-IN" dirty="0"/>
                        <a:t> </a:t>
                      </a:r>
                    </a:p>
                    <a:p>
                      <a:pPr lvl="0"/>
                      <a:r>
                        <a:rPr lang="en-IN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OnlineSecurity</a:t>
                      </a:r>
                      <a:r>
                        <a:rPr lang="en-IN" dirty="0"/>
                        <a:t> </a:t>
                      </a:r>
                    </a:p>
                    <a:p>
                      <a:pPr lvl="0"/>
                      <a:r>
                        <a:rPr lang="en-IN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OnlineBackup</a:t>
                      </a:r>
                      <a:r>
                        <a:rPr lang="en-IN" dirty="0"/>
                        <a:t> </a:t>
                      </a:r>
                    </a:p>
                    <a:p>
                      <a:pPr lvl="0"/>
                      <a:r>
                        <a:rPr lang="en-IN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DeviceProtection</a:t>
                      </a:r>
                      <a:r>
                        <a:rPr lang="en-IN" dirty="0"/>
                        <a:t> </a:t>
                      </a:r>
                    </a:p>
                    <a:p>
                      <a:pPr lvl="0"/>
                      <a:r>
                        <a:rPr lang="en-IN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TechSupport</a:t>
                      </a:r>
                      <a:r>
                        <a:rPr lang="en-IN" dirty="0"/>
                        <a:t> </a:t>
                      </a:r>
                    </a:p>
                    <a:p>
                      <a:pPr lvl="0"/>
                      <a:r>
                        <a:rPr lang="en-IN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StreamingTV</a:t>
                      </a:r>
                      <a:r>
                        <a:rPr lang="en-IN" dirty="0"/>
                        <a:t> </a:t>
                      </a:r>
                    </a:p>
                    <a:p>
                      <a:pPr lvl="0"/>
                      <a:r>
                        <a:rPr lang="en-IN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StreamingMovies</a:t>
                      </a:r>
                      <a:r>
                        <a:rPr lang="en-IN" dirty="0"/>
                        <a:t> </a:t>
                      </a:r>
                    </a:p>
                    <a:p>
                      <a:pPr lvl="0"/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Contract</a:t>
                      </a:r>
                      <a:r>
                        <a:rPr lang="en-IN" dirty="0"/>
                        <a:t> </a:t>
                      </a:r>
                    </a:p>
                    <a:p>
                      <a:pPr lvl="0"/>
                      <a:r>
                        <a:rPr lang="en-IN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PaperlessBilling</a:t>
                      </a:r>
                      <a:r>
                        <a:rPr lang="en-IN" dirty="0"/>
                        <a:t> </a:t>
                      </a:r>
                    </a:p>
                    <a:p>
                      <a:pPr lvl="0"/>
                      <a:r>
                        <a:rPr lang="en-IN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PaymentMethod</a:t>
                      </a:r>
                      <a:r>
                        <a:rPr lang="en-IN" dirty="0"/>
                        <a:t> </a:t>
                      </a:r>
                    </a:p>
                    <a:p>
                      <a:pPr lvl="0"/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Churn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210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054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97DBB-E681-6D04-169E-07DE36D65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696" y="228600"/>
            <a:ext cx="9794956" cy="6520992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Summary</a:t>
            </a: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numerical features, statistical analysis can include:</a:t>
            </a:r>
          </a:p>
          <a:p>
            <a:pPr lvl="0"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</a:t>
            </a:r>
          </a:p>
          <a:p>
            <a:pPr lvl="0"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</a:t>
            </a:r>
          </a:p>
          <a:p>
            <a:pPr lvl="0"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 </a:t>
            </a:r>
          </a:p>
          <a:p>
            <a:pPr lvl="0"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</a:t>
            </a:r>
          </a:p>
          <a:p>
            <a:pPr lvl="0"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</a:t>
            </a:r>
          </a:p>
          <a:p>
            <a:pPr lvl="0"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Quartiles </a:t>
            </a: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numerical variables:</a:t>
            </a:r>
          </a:p>
          <a:p>
            <a:pPr marL="0" indent="0" algn="just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tenure</a:t>
            </a: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number of months a customer has stayed with the company.</a:t>
            </a:r>
          </a:p>
          <a:p>
            <a:pPr marL="0" indent="0" algn="just">
              <a:buNone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MonthlyCharges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customer's monthly service charge.</a:t>
            </a:r>
          </a:p>
          <a:p>
            <a:pPr marL="0" indent="0" algn="just">
              <a:buNone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total amount charged to the customer.</a:t>
            </a:r>
          </a:p>
          <a:p>
            <a:pPr marL="0" indent="0" algn="just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Statistical summary helps understand the range, central tendency, and variation of numerical variables.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21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449A6-40A2-D4C4-0D98-1E97C9CBC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9136" y="853125"/>
            <a:ext cx="10243693" cy="54392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Values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</a:t>
            </a:r>
          </a:p>
          <a:p>
            <a:pPr marL="0" lv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year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year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Mailed check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transfer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us understand the categories available in the dataset.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793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89F17-5B54-189F-B9E6-43EF953BD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464" y="67204"/>
            <a:ext cx="7991168" cy="785249"/>
          </a:xfrm>
        </p:spPr>
        <p:txBody>
          <a:bodyPr>
            <a:normAutofit/>
          </a:bodyPr>
          <a:lstStyle/>
          <a:p>
            <a:r>
              <a:rPr lang="en-IN" sz="3200" dirty="0"/>
              <a:t>4.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097F1-6B9B-81AC-EFA7-42FF496DA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2402" y="1045805"/>
            <a:ext cx="11680722" cy="581219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Remove irrelevant attributes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Remove:</a:t>
            </a:r>
          </a:p>
          <a:p>
            <a:pPr algn="just"/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customerID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is only a unique customer identifier.</a:t>
            </a:r>
          </a:p>
          <a:p>
            <a:pPr marL="0" indent="0" algn="just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Handle missing/blank values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missing and blank values.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algn="just"/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initially stored as text and needs conversion to numerical format.</a:t>
            </a:r>
          </a:p>
          <a:p>
            <a:pPr marL="0" indent="0" algn="just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Convert numerical variables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Convert:</a:t>
            </a:r>
          </a:p>
          <a:p>
            <a:pPr algn="just"/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object/string to numeric.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7874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89CA7-66C7-F02F-31E8-AA259F033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6469" y="354874"/>
            <a:ext cx="9874425" cy="66115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Handle categorical variables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variables cannot be directly given to Logistic Regression.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encoding techniques such as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year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year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becomes numerical indicator columns.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Scale numerical features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features such as: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tenure </a:t>
            </a:r>
          </a:p>
          <a:p>
            <a:pPr lvl="0"/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MonthlyCharges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scaled so that variables with different ranges can be handled effectively by the model.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773490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E0B942-9FD2-CC3C-23F4-094670712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010" y="849406"/>
            <a:ext cx="3779848" cy="51591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CA3DEC-A51C-80B2-1553-8506C4B9D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573" y="1212061"/>
            <a:ext cx="6569009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52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D70669-BF56-72F9-5DCB-5C80D0472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220" y="1019047"/>
            <a:ext cx="10036410" cy="15393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F569BC-1DEF-178B-ECD2-16F99F1CE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472" y="3515346"/>
            <a:ext cx="6515665" cy="152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48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4E0FD-2026-E142-F5CE-DDC18BF4F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462" y="386980"/>
            <a:ext cx="5824498" cy="608403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1" dirty="0"/>
              <a:t>Outlier and Incorrect Data Checking</a:t>
            </a:r>
          </a:p>
          <a:p>
            <a:pPr marL="0" indent="0">
              <a:buNone/>
            </a:pPr>
            <a:r>
              <a:rPr lang="en-IN" b="1" dirty="0"/>
              <a:t>Outlier Detection</a:t>
            </a:r>
          </a:p>
          <a:p>
            <a:r>
              <a:rPr lang="en-IN" dirty="0"/>
              <a:t>Box plots can be used to identify unusual values in:</a:t>
            </a:r>
          </a:p>
          <a:p>
            <a:pPr lvl="0"/>
            <a:r>
              <a:rPr lang="en-IN" dirty="0"/>
              <a:t>tenure , </a:t>
            </a:r>
            <a:r>
              <a:rPr lang="en-IN" dirty="0" err="1"/>
              <a:t>MonthlyCharges</a:t>
            </a:r>
            <a:r>
              <a:rPr lang="en-IN" dirty="0"/>
              <a:t> , </a:t>
            </a:r>
            <a:r>
              <a:rPr lang="en-IN" dirty="0" err="1"/>
              <a:t>TotalCharges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Incorrect Data</a:t>
            </a:r>
          </a:p>
          <a:p>
            <a:pPr marL="0" indent="0">
              <a:buNone/>
            </a:pPr>
            <a:r>
              <a:rPr lang="en-IN" dirty="0"/>
              <a:t>Check for:</a:t>
            </a:r>
          </a:p>
          <a:p>
            <a:pPr lvl="0"/>
            <a:r>
              <a:rPr lang="en-IN" dirty="0"/>
              <a:t>Blank values </a:t>
            </a:r>
          </a:p>
          <a:p>
            <a:pPr lvl="0"/>
            <a:r>
              <a:rPr lang="en-IN" dirty="0"/>
              <a:t>Invalid numerical values </a:t>
            </a:r>
          </a:p>
          <a:p>
            <a:pPr lvl="0"/>
            <a:r>
              <a:rPr lang="en-IN" dirty="0"/>
              <a:t>Unexpected categorical values </a:t>
            </a:r>
          </a:p>
          <a:p>
            <a:pPr lvl="0"/>
            <a:r>
              <a:rPr lang="en-IN" dirty="0"/>
              <a:t>Incorrect data types </a:t>
            </a:r>
          </a:p>
          <a:p>
            <a:pPr marL="0" indent="0">
              <a:buNone/>
            </a:pPr>
            <a:r>
              <a:rPr lang="en-IN" b="1" dirty="0"/>
              <a:t>Final preprocessing flow</a:t>
            </a:r>
          </a:p>
          <a:p>
            <a:pPr marL="0" indent="0">
              <a:buNone/>
            </a:pPr>
            <a:r>
              <a:rPr lang="en-IN" dirty="0"/>
              <a:t>Raw Dataset</a:t>
            </a:r>
          </a:p>
          <a:p>
            <a:pPr marL="0" indent="0">
              <a:buNone/>
            </a:pPr>
            <a:r>
              <a:rPr lang="en-IN" dirty="0"/>
              <a:t>         ↓</a:t>
            </a:r>
          </a:p>
          <a:p>
            <a:pPr marL="0" indent="0">
              <a:buNone/>
            </a:pPr>
            <a:r>
              <a:rPr lang="en-IN" dirty="0"/>
              <a:t>Remove </a:t>
            </a:r>
            <a:r>
              <a:rPr lang="en-IN" dirty="0" err="1"/>
              <a:t>customerID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Handle blank/missing values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Convert numerical columns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Encode categorical variables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Scale numerical variables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 err="1"/>
              <a:t>Preprocessed</a:t>
            </a:r>
            <a:r>
              <a:rPr lang="en-IN" dirty="0"/>
              <a:t> Dataset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8CD7E9-2550-A89E-DFFB-94E70AD5D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684" y="890131"/>
            <a:ext cx="5609809" cy="414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231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99BB55-3570-21D8-24D8-4B793524E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411" y="582682"/>
            <a:ext cx="4290432" cy="57154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13F4A0-4A59-CE57-2E54-E9CB43845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261" y="559820"/>
            <a:ext cx="4701947" cy="57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45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1901A-F04F-8AB0-F8D6-0C8EB429555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28420" y="120291"/>
            <a:ext cx="8031163" cy="774700"/>
          </a:xfrm>
        </p:spPr>
        <p:txBody>
          <a:bodyPr>
            <a:normAutofit/>
          </a:bodyPr>
          <a:lstStyle/>
          <a:p>
            <a:r>
              <a:rPr lang="en-IN" sz="3200" dirty="0"/>
              <a:t>5. Exploratory Data Analysis — EDA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D260A7-4698-77F6-D728-459CB424A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26" y="2282649"/>
            <a:ext cx="5488237" cy="34260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AE6AF7-D9D2-0B5B-4C00-CE39A21D7B68}"/>
              </a:ext>
            </a:extLst>
          </p:cNvPr>
          <p:cNvSpPr txBox="1"/>
          <p:nvPr/>
        </p:nvSpPr>
        <p:spPr>
          <a:xfrm>
            <a:off x="1569564" y="1404154"/>
            <a:ext cx="6174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F0502020204030204" pitchFamily="2" charset="0"/>
              </a:rPr>
              <a:t>Histogram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848B7A-E62F-505C-2223-95445CFB9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596" y="2282649"/>
            <a:ext cx="5259145" cy="34260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52D717-EFE6-12FC-5908-22189858BE43}"/>
              </a:ext>
            </a:extLst>
          </p:cNvPr>
          <p:cNvSpPr txBox="1"/>
          <p:nvPr/>
        </p:nvSpPr>
        <p:spPr>
          <a:xfrm>
            <a:off x="7046536" y="1456405"/>
            <a:ext cx="5462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Bar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825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56474B-95C5-7353-F702-DCF13A6D5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532" y="1444657"/>
            <a:ext cx="6843353" cy="45342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B0D1BE-BAF1-5F4D-1797-78FF7817BF77}"/>
              </a:ext>
            </a:extLst>
          </p:cNvPr>
          <p:cNvSpPr txBox="1"/>
          <p:nvPr/>
        </p:nvSpPr>
        <p:spPr>
          <a:xfrm>
            <a:off x="2325532" y="69438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Scatter plot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376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19B0-86B8-FE5F-AA9C-FD36F788B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321" y="241074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399045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90</TotalTime>
  <Words>742</Words>
  <Application>Microsoft Office PowerPoint</Application>
  <PresentationFormat>Widescreen</PresentationFormat>
  <Paragraphs>196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Corbel</vt:lpstr>
      <vt:lpstr>Roboto</vt:lpstr>
      <vt:lpstr>Times New Roman</vt:lpstr>
      <vt:lpstr>Parallax</vt:lpstr>
      <vt:lpstr>Customer Churn Prediction Using Elastic Net Regularized Logistic Regression   </vt:lpstr>
      <vt:lpstr>1. Problem Definition</vt:lpstr>
      <vt:lpstr>PowerPoint Presentation</vt:lpstr>
      <vt:lpstr>2. Dataset Collection</vt:lpstr>
      <vt:lpstr>PowerPoint Presentation</vt:lpstr>
      <vt:lpstr>3. Data Understanding</vt:lpstr>
      <vt:lpstr>PowerPoint Presentation</vt:lpstr>
      <vt:lpstr>PowerPoint Presentation</vt:lpstr>
      <vt:lpstr>PowerPoint Presentation</vt:lpstr>
      <vt:lpstr>4. Data Preprocessing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 Exploratory Data Analysis — EDA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Alluru Amulya</dc:creator>
  <cp:lastModifiedBy>Alluru Amulya</cp:lastModifiedBy>
  <cp:revision>3</cp:revision>
  <dcterms:created xsi:type="dcterms:W3CDTF">2026-09-19T07:12:32Z</dcterms:created>
  <dcterms:modified xsi:type="dcterms:W3CDTF">2026-10-05T03:07:35Z</dcterms:modified>
</cp:coreProperties>
</file>